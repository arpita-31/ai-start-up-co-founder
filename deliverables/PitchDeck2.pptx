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144000" cy="457200"/>
          </a:xfrm>
          <a:prstGeom prst="rect">
            <a:avLst/>
          </a:prstGeom>
          <a:noFill/>
          <a:ln/>
        </p:spPr>
        <p:txBody>
          <a:bodyPr wrap="square" rtlCol="0" anchor="ctr"/>
          <a:lstStyle/>
          <a:p>
            <a:pPr indent="0" marL="0">
              <a:buNone/>
            </a:pPr>
            <a:r>
              <a:rPr lang="en-US" sz="2400" b="1" dirty="0">
                <a:solidFill>
                  <a:srgbClr val="1E293B"/>
                </a:solidFill>
              </a:rPr>
              <a:t>Problem</a:t>
            </a:r>
            <a:endParaRPr lang="en-US" sz="2400" dirty="0"/>
          </a:p>
        </p:txBody>
      </p:sp>
      <p:sp>
        <p:nvSpPr>
          <p:cNvPr id="3" name="Text 1"/>
          <p:cNvSpPr/>
          <p:nvPr/>
        </p:nvSpPr>
        <p:spPr>
          <a:xfrm>
            <a:off x="548640" y="914400"/>
            <a:ext cx="10058400" cy="457200"/>
          </a:xfrm>
          <a:prstGeom prst="rect">
            <a:avLst/>
          </a:prstGeom>
          <a:noFill/>
          <a:ln/>
        </p:spPr>
        <p:txBody>
          <a:bodyPr wrap="square" rtlCol="0" anchor="ctr"/>
          <a:lstStyle/>
          <a:p>
            <a:pPr indent="0" marL="0">
              <a:buNone/>
            </a:pPr>
            <a:r>
              <a:rPr lang="en-US" sz="1800" b="1" dirty="0">
                <a:solidFill>
                  <a:srgbClr val="2563EB"/>
                </a:solidFill>
              </a:rPr>
              <a:t>Problem</a:t>
            </a:r>
            <a:endParaRPr lang="en-US" sz="1800" dirty="0"/>
          </a:p>
        </p:txBody>
      </p:sp>
      <p:sp>
        <p:nvSpPr>
          <p:cNvPr id="4" name="Text 2"/>
          <p:cNvSpPr/>
          <p:nvPr/>
        </p:nvSpPr>
        <p:spPr>
          <a:xfrm>
            <a:off x="731520" y="1554480"/>
            <a:ext cx="10058400" cy="3657600"/>
          </a:xfrm>
          <a:prstGeom prst="rect">
            <a:avLst/>
          </a:prstGeom>
          <a:noFill/>
          <a:ln/>
        </p:spPr>
        <p:txBody>
          <a:bodyPr wrap="square" rtlCol="0" anchor="ctr"/>
          <a:lstStyle/>
          <a:p>
            <a:pPr marL="228600" indent="-228600">
              <a:buSzPct val="100000"/>
              <a:buChar char="•"/>
            </a:pPr>
            <a:r>
              <a:rPr lang="en-US" sz="1600" dirty="0">
                <a:solidFill>
                  <a:srgbClr val="000000"/>
                </a:solidFill>
              </a:rPr>
              <a:t>The Indian grocery market is one of the largest and fastest-growing markets in the world, with a significant portion of it being unorganized</a:t>
            </a:r>
            <a:endParaRPr lang="en-US" sz="1600" dirty="0"/>
          </a:p>
          <a:p>
            <a:pPr marL="228600" indent="-228600">
              <a:buSzPct val="100000"/>
              <a:buChar char="•"/>
            </a:pPr>
            <a:r>
              <a:rPr lang="en-US" sz="1600" dirty="0">
                <a:solidFill>
                  <a:srgbClr val="000000"/>
                </a:solidFill>
              </a:rPr>
              <a:t>Existing online grocery platforms face challenges in providing personalized shopping experiences, ensuring quality and freshness of products, and optimizing logistics and delivery</a:t>
            </a:r>
            <a:endParaRPr lang="en-US" sz="1600" dirty="0"/>
          </a:p>
          <a:p>
            <a:pPr marL="228600" indent="-228600">
              <a:buSzPct val="100000"/>
              <a:buChar char="•"/>
            </a:pPr>
            <a:r>
              <a:rPr lang="en-US" sz="1600" dirty="0">
                <a:solidFill>
                  <a:srgbClr val="000000"/>
                </a:solidFill>
              </a:rPr>
              <a:t>Consumers are increasingly expecting convenient, high-quality, and fresh products, which is driving the need for a more efficient and technologically advanced solution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144000" cy="457200"/>
          </a:xfrm>
          <a:prstGeom prst="rect">
            <a:avLst/>
          </a:prstGeom>
          <a:noFill/>
          <a:ln/>
        </p:spPr>
        <p:txBody>
          <a:bodyPr wrap="square" rtlCol="0" anchor="ctr"/>
          <a:lstStyle/>
          <a:p>
            <a:pPr indent="0" marL="0">
              <a:buNone/>
            </a:pPr>
            <a:r>
              <a:rPr lang="en-US" sz="2400" b="1" dirty="0">
                <a:solidFill>
                  <a:srgbClr val="1E293B"/>
                </a:solidFill>
              </a:rPr>
              <a:t>Solution</a:t>
            </a:r>
            <a:endParaRPr lang="en-US" sz="2400" dirty="0"/>
          </a:p>
        </p:txBody>
      </p:sp>
      <p:sp>
        <p:nvSpPr>
          <p:cNvPr id="3" name="Text 1"/>
          <p:cNvSpPr/>
          <p:nvPr/>
        </p:nvSpPr>
        <p:spPr>
          <a:xfrm>
            <a:off x="548640" y="914400"/>
            <a:ext cx="10058400" cy="457200"/>
          </a:xfrm>
          <a:prstGeom prst="rect">
            <a:avLst/>
          </a:prstGeom>
          <a:noFill/>
          <a:ln/>
        </p:spPr>
        <p:txBody>
          <a:bodyPr wrap="square" rtlCol="0" anchor="ctr"/>
          <a:lstStyle/>
          <a:p>
            <a:pPr indent="0" marL="0">
              <a:buNone/>
            </a:pPr>
            <a:r>
              <a:rPr lang="en-US" sz="1800" b="1" dirty="0">
                <a:solidFill>
                  <a:srgbClr val="2563EB"/>
                </a:solidFill>
              </a:rPr>
              <a:t>Solution</a:t>
            </a:r>
            <a:endParaRPr lang="en-US" sz="1800" dirty="0"/>
          </a:p>
        </p:txBody>
      </p:sp>
      <p:sp>
        <p:nvSpPr>
          <p:cNvPr id="4" name="Text 2"/>
          <p:cNvSpPr/>
          <p:nvPr/>
        </p:nvSpPr>
        <p:spPr>
          <a:xfrm>
            <a:off x="731520" y="1554480"/>
            <a:ext cx="10058400" cy="3657600"/>
          </a:xfrm>
          <a:prstGeom prst="rect">
            <a:avLst/>
          </a:prstGeom>
          <a:noFill/>
          <a:ln/>
        </p:spPr>
        <p:txBody>
          <a:bodyPr wrap="square" rtlCol="0" anchor="ctr"/>
          <a:lstStyle/>
          <a:p>
            <a:pPr marL="228600" indent="-228600">
              <a:buSzPct val="100000"/>
              <a:buChar char="•"/>
            </a:pPr>
            <a:r>
              <a:rPr lang="en-US" sz="1600" dirty="0">
                <a:solidFill>
                  <a:srgbClr val="000000"/>
                </a:solidFill>
              </a:rPr>
              <a:t>The AI grocery delivery platform aims to provide a personalized, convenient, and high-quality shopping experience to consumers</a:t>
            </a:r>
            <a:endParaRPr lang="en-US" sz="1600" dirty="0"/>
          </a:p>
          <a:p>
            <a:pPr marL="228600" indent="-228600">
              <a:buSzPct val="100000"/>
              <a:buChar char="•"/>
            </a:pPr>
            <a:r>
              <a:rPr lang="en-US" sz="1600" dirty="0">
                <a:solidFill>
                  <a:srgbClr val="000000"/>
                </a:solidFill>
              </a:rPr>
              <a:t>The platform will leverage AI and machine learning to offer personalized product recommendations, high-quality and fresh products, efficient logistics and delivery systems, and seamless and intuitive customer support</a:t>
            </a:r>
            <a:endParaRPr lang="en-US" sz="1600" dirty="0"/>
          </a:p>
          <a:p>
            <a:pPr marL="228600" indent="-228600">
              <a:buSzPct val="100000"/>
              <a:buChar char="•"/>
            </a:pPr>
            <a:r>
              <a:rPr lang="en-US" sz="1600" dirty="0">
                <a:solidFill>
                  <a:srgbClr val="000000"/>
                </a:solidFill>
              </a:rPr>
              <a:t>The platform will partner with local retailers and farmers to offer high-quality and fresh products, while also supporting the local economy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144000" cy="457200"/>
          </a:xfrm>
          <a:prstGeom prst="rect">
            <a:avLst/>
          </a:prstGeom>
          <a:noFill/>
          <a:ln/>
        </p:spPr>
        <p:txBody>
          <a:bodyPr wrap="square" rtlCol="0" anchor="ctr"/>
          <a:lstStyle/>
          <a:p>
            <a:pPr indent="0" marL="0">
              <a:buNone/>
            </a:pPr>
            <a:r>
              <a:rPr lang="en-US" sz="2400" b="1" dirty="0">
                <a:solidFill>
                  <a:srgbClr val="1E293B"/>
                </a:solidFill>
              </a:rPr>
              <a:t>Market Opportunity</a:t>
            </a:r>
            <a:endParaRPr lang="en-US" sz="2400" dirty="0"/>
          </a:p>
        </p:txBody>
      </p:sp>
      <p:sp>
        <p:nvSpPr>
          <p:cNvPr id="3" name="Text 1"/>
          <p:cNvSpPr/>
          <p:nvPr/>
        </p:nvSpPr>
        <p:spPr>
          <a:xfrm>
            <a:off x="548640" y="914400"/>
            <a:ext cx="10058400" cy="457200"/>
          </a:xfrm>
          <a:prstGeom prst="rect">
            <a:avLst/>
          </a:prstGeom>
          <a:noFill/>
          <a:ln/>
        </p:spPr>
        <p:txBody>
          <a:bodyPr wrap="square" rtlCol="0" anchor="ctr"/>
          <a:lstStyle/>
          <a:p>
            <a:pPr indent="0" marL="0">
              <a:buNone/>
            </a:pPr>
            <a:r>
              <a:rPr lang="en-US" sz="1800" b="1" dirty="0">
                <a:solidFill>
                  <a:srgbClr val="2563EB"/>
                </a:solidFill>
              </a:rPr>
              <a:t>Market Opportunity</a:t>
            </a:r>
            <a:endParaRPr lang="en-US" sz="1800" dirty="0"/>
          </a:p>
        </p:txBody>
      </p:sp>
      <p:sp>
        <p:nvSpPr>
          <p:cNvPr id="4" name="Text 2"/>
          <p:cNvSpPr/>
          <p:nvPr/>
        </p:nvSpPr>
        <p:spPr>
          <a:xfrm>
            <a:off x="731520" y="1554480"/>
            <a:ext cx="10058400" cy="3657600"/>
          </a:xfrm>
          <a:prstGeom prst="rect">
            <a:avLst/>
          </a:prstGeom>
          <a:noFill/>
          <a:ln/>
        </p:spPr>
        <p:txBody>
          <a:bodyPr wrap="square" rtlCol="0" anchor="ctr"/>
          <a:lstStyle/>
          <a:p>
            <a:pPr marL="228600" indent="-228600">
              <a:buSzPct val="100000"/>
              <a:buChar char="•"/>
            </a:pPr>
            <a:r>
              <a:rPr lang="en-US" sz="1600" dirty="0">
                <a:solidFill>
                  <a:srgbClr val="000000"/>
                </a:solidFill>
              </a:rPr>
              <a:t>The demand for online grocery shopping is growing rapidly, providing a significant opportunity for the platform to acquire customers and increase sales</a:t>
            </a:r>
            <a:endParaRPr lang="en-US" sz="1600" dirty="0"/>
          </a:p>
          <a:p>
            <a:pPr marL="228600" indent="-228600">
              <a:buSzPct val="100000"/>
              <a:buChar char="•"/>
            </a:pPr>
            <a:r>
              <a:rPr lang="en-US" sz="1600" dirty="0">
                <a:solidFill>
                  <a:srgbClr val="000000"/>
                </a:solidFill>
              </a:rPr>
              <a:t>The platform can expand into tier 2 and tier 3 cities, where the online grocery market is relatively untapped</a:t>
            </a:r>
            <a:endParaRPr lang="en-US" sz="1600" dirty="0"/>
          </a:p>
          <a:p>
            <a:pPr marL="228600" indent="-228600">
              <a:buSzPct val="100000"/>
              <a:buChar char="•"/>
            </a:pPr>
            <a:r>
              <a:rPr lang="en-US" sz="1600" dirty="0">
                <a:solidFill>
                  <a:srgbClr val="000000"/>
                </a:solidFill>
              </a:rPr>
              <a:t>The platform can partner with local retailers and farmers to offer high-quality and fresh products, while also supporting the local economy</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144000" cy="457200"/>
          </a:xfrm>
          <a:prstGeom prst="rect">
            <a:avLst/>
          </a:prstGeom>
          <a:noFill/>
          <a:ln/>
        </p:spPr>
        <p:txBody>
          <a:bodyPr wrap="square" rtlCol="0" anchor="ctr"/>
          <a:lstStyle/>
          <a:p>
            <a:pPr indent="0" marL="0">
              <a:buNone/>
            </a:pPr>
            <a:r>
              <a:rPr lang="en-US" sz="2400" b="1" dirty="0">
                <a:solidFill>
                  <a:srgbClr val="1E293B"/>
                </a:solidFill>
              </a:rPr>
              <a:t>Business Model</a:t>
            </a:r>
            <a:endParaRPr lang="en-US" sz="2400" dirty="0"/>
          </a:p>
        </p:txBody>
      </p:sp>
      <p:sp>
        <p:nvSpPr>
          <p:cNvPr id="3" name="Text 1"/>
          <p:cNvSpPr/>
          <p:nvPr/>
        </p:nvSpPr>
        <p:spPr>
          <a:xfrm>
            <a:off x="548640" y="914400"/>
            <a:ext cx="10058400" cy="457200"/>
          </a:xfrm>
          <a:prstGeom prst="rect">
            <a:avLst/>
          </a:prstGeom>
          <a:noFill/>
          <a:ln/>
        </p:spPr>
        <p:txBody>
          <a:bodyPr wrap="square" rtlCol="0" anchor="ctr"/>
          <a:lstStyle/>
          <a:p>
            <a:pPr indent="0" marL="0">
              <a:buNone/>
            </a:pPr>
            <a:r>
              <a:rPr lang="en-US" sz="1800" b="1" dirty="0">
                <a:solidFill>
                  <a:srgbClr val="2563EB"/>
                </a:solidFill>
              </a:rPr>
              <a:t>Business Model</a:t>
            </a:r>
            <a:endParaRPr lang="en-US" sz="1800" dirty="0"/>
          </a:p>
        </p:txBody>
      </p:sp>
      <p:sp>
        <p:nvSpPr>
          <p:cNvPr id="4" name="Text 2"/>
          <p:cNvSpPr/>
          <p:nvPr/>
        </p:nvSpPr>
        <p:spPr>
          <a:xfrm>
            <a:off x="731520" y="1554480"/>
            <a:ext cx="10058400" cy="3657600"/>
          </a:xfrm>
          <a:prstGeom prst="rect">
            <a:avLst/>
          </a:prstGeom>
          <a:noFill/>
          <a:ln/>
        </p:spPr>
        <p:txBody>
          <a:bodyPr wrap="square" rtlCol="0" anchor="ctr"/>
          <a:lstStyle/>
          <a:p>
            <a:pPr marL="228600" indent="-228600">
              <a:buSzPct val="100000"/>
              <a:buChar char="•"/>
            </a:pPr>
            <a:r>
              <a:rPr lang="en-US" sz="1600" dirty="0">
                <a:solidFill>
                  <a:srgbClr val="000000"/>
                </a:solidFill>
              </a:rPr>
              <a:t>The platform will generate revenue through a commission-based model, delivery fees, advertising and promotions, and premium services</a:t>
            </a:r>
            <a:endParaRPr lang="en-US" sz="1600" dirty="0"/>
          </a:p>
          <a:p>
            <a:pPr marL="228600" indent="-228600">
              <a:buSzPct val="100000"/>
              <a:buChar char="•"/>
            </a:pPr>
            <a:r>
              <a:rPr lang="en-US" sz="1600" dirty="0">
                <a:solidFill>
                  <a:srgbClr val="000000"/>
                </a:solidFill>
              </a:rPr>
              <a:t>The platform will charge a commission on every sale made through the platform, ranging from 10-20% of the sale value</a:t>
            </a:r>
            <a:endParaRPr lang="en-US" sz="1600" dirty="0"/>
          </a:p>
          <a:p>
            <a:pPr marL="228600" indent="-228600">
              <a:buSzPct val="100000"/>
              <a:buChar char="•"/>
            </a:pPr>
            <a:r>
              <a:rPr lang="en-US" sz="1600" dirty="0">
                <a:solidFill>
                  <a:srgbClr val="000000"/>
                </a:solidFill>
              </a:rPr>
              <a:t>The platform will offer advertising and promotion services to local retailers and farmers, allowing them to reach a wider audience and increase their sales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144000" cy="457200"/>
          </a:xfrm>
          <a:prstGeom prst="rect">
            <a:avLst/>
          </a:prstGeom>
          <a:noFill/>
          <a:ln/>
        </p:spPr>
        <p:txBody>
          <a:bodyPr wrap="square" rtlCol="0" anchor="ctr"/>
          <a:lstStyle/>
          <a:p>
            <a:pPr indent="0" marL="0">
              <a:buNone/>
            </a:pPr>
            <a:r>
              <a:rPr lang="en-US" sz="2400" b="1" dirty="0">
                <a:solidFill>
                  <a:srgbClr val="1E293B"/>
                </a:solidFill>
              </a:rPr>
              <a:t>MVP</a:t>
            </a:r>
            <a:endParaRPr lang="en-US" sz="2400" dirty="0"/>
          </a:p>
        </p:txBody>
      </p:sp>
      <p:sp>
        <p:nvSpPr>
          <p:cNvPr id="3" name="Text 1"/>
          <p:cNvSpPr/>
          <p:nvPr/>
        </p:nvSpPr>
        <p:spPr>
          <a:xfrm>
            <a:off x="548640" y="914400"/>
            <a:ext cx="10058400" cy="457200"/>
          </a:xfrm>
          <a:prstGeom prst="rect">
            <a:avLst/>
          </a:prstGeom>
          <a:noFill/>
          <a:ln/>
        </p:spPr>
        <p:txBody>
          <a:bodyPr wrap="square" rtlCol="0" anchor="ctr"/>
          <a:lstStyle/>
          <a:p>
            <a:pPr indent="0" marL="0">
              <a:buNone/>
            </a:pPr>
            <a:r>
              <a:rPr lang="en-US" sz="1800" b="1" dirty="0">
                <a:solidFill>
                  <a:srgbClr val="2563EB"/>
                </a:solidFill>
              </a:rPr>
              <a:t>MVP</a:t>
            </a:r>
            <a:endParaRPr lang="en-US" sz="1800" dirty="0"/>
          </a:p>
        </p:txBody>
      </p:sp>
      <p:sp>
        <p:nvSpPr>
          <p:cNvPr id="4" name="Text 2"/>
          <p:cNvSpPr/>
          <p:nvPr/>
        </p:nvSpPr>
        <p:spPr>
          <a:xfrm>
            <a:off x="731520" y="1554480"/>
            <a:ext cx="10058400" cy="3657600"/>
          </a:xfrm>
          <a:prstGeom prst="rect">
            <a:avLst/>
          </a:prstGeom>
          <a:noFill/>
          <a:ln/>
        </p:spPr>
        <p:txBody>
          <a:bodyPr wrap="square" rtlCol="0" anchor="ctr"/>
          <a:lstStyle/>
          <a:p>
            <a:pPr marL="228600" indent="-228600">
              <a:buSzPct val="100000"/>
              <a:buChar char="•"/>
            </a:pPr>
            <a:r>
              <a:rPr lang="en-US" sz="1600" dirty="0">
                <a:solidFill>
                  <a:srgbClr val="000000"/>
                </a:solidFill>
              </a:rPr>
              <a:t>The Minimum Viable Product (MVP) features for the AI grocery delivery platform will include user registration and login, product catalog, search and filter, personalized product recommendations, order management, payment gateway, basic logistics and delivery, and customer support</a:t>
            </a:r>
            <a:endParaRPr lang="en-US" sz="1600" dirty="0"/>
          </a:p>
          <a:p>
            <a:pPr marL="228600" indent="-228600">
              <a:buSzPct val="100000"/>
              <a:buChar char="•"/>
            </a:pPr>
            <a:r>
              <a:rPr lang="en-US" sz="1600" dirty="0">
                <a:solidFill>
                  <a:srgbClr val="000000"/>
                </a:solidFill>
              </a:rPr>
              <a:t>The MVP will be developed and launched within the first 3 months of the project</a:t>
            </a:r>
            <a:endParaRPr lang="en-US" sz="1600" dirty="0"/>
          </a:p>
          <a:p>
            <a:pPr marL="228600" indent="-228600">
              <a:buSzPct val="100000"/>
              <a:buChar char="•"/>
            </a:pPr>
            <a:r>
              <a:rPr lang="en-US" sz="1600" dirty="0">
                <a:solidFill>
                  <a:srgbClr val="000000"/>
                </a:solidFill>
              </a:rPr>
              <a:t>The MVP will be tested with a small group of users to gather feedback and iterate on the product</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144000" cy="457200"/>
          </a:xfrm>
          <a:prstGeom prst="rect">
            <a:avLst/>
          </a:prstGeom>
          <a:noFill/>
          <a:ln/>
        </p:spPr>
        <p:txBody>
          <a:bodyPr wrap="square" rtlCol="0" anchor="ctr"/>
          <a:lstStyle/>
          <a:p>
            <a:pPr indent="0" marL="0">
              <a:buNone/>
            </a:pPr>
            <a:r>
              <a:rPr lang="en-US" sz="2400" b="1" dirty="0">
                <a:solidFill>
                  <a:srgbClr val="1E293B"/>
                </a:solidFill>
              </a:rPr>
              <a:t>Team</a:t>
            </a:r>
            <a:endParaRPr lang="en-US" sz="2400" dirty="0"/>
          </a:p>
        </p:txBody>
      </p:sp>
      <p:sp>
        <p:nvSpPr>
          <p:cNvPr id="3" name="Text 1"/>
          <p:cNvSpPr/>
          <p:nvPr/>
        </p:nvSpPr>
        <p:spPr>
          <a:xfrm>
            <a:off x="548640" y="914400"/>
            <a:ext cx="10058400" cy="457200"/>
          </a:xfrm>
          <a:prstGeom prst="rect">
            <a:avLst/>
          </a:prstGeom>
          <a:noFill/>
          <a:ln/>
        </p:spPr>
        <p:txBody>
          <a:bodyPr wrap="square" rtlCol="0" anchor="ctr"/>
          <a:lstStyle/>
          <a:p>
            <a:pPr indent="0" marL="0">
              <a:buNone/>
            </a:pPr>
            <a:r>
              <a:rPr lang="en-US" sz="1800" b="1" dirty="0">
                <a:solidFill>
                  <a:srgbClr val="2563EB"/>
                </a:solidFill>
              </a:rPr>
              <a:t>Team</a:t>
            </a:r>
            <a:endParaRPr lang="en-US" sz="1800" dirty="0"/>
          </a:p>
        </p:txBody>
      </p:sp>
      <p:sp>
        <p:nvSpPr>
          <p:cNvPr id="4" name="Text 2"/>
          <p:cNvSpPr/>
          <p:nvPr/>
        </p:nvSpPr>
        <p:spPr>
          <a:xfrm>
            <a:off x="731520" y="1554480"/>
            <a:ext cx="10058400" cy="3657600"/>
          </a:xfrm>
          <a:prstGeom prst="rect">
            <a:avLst/>
          </a:prstGeom>
          <a:noFill/>
          <a:ln/>
        </p:spPr>
        <p:txBody>
          <a:bodyPr wrap="square" rtlCol="0" anchor="ctr"/>
          <a:lstStyle/>
          <a:p>
            <a:pPr marL="228600" indent="-228600">
              <a:buSzPct val="100000"/>
              <a:buChar char="•"/>
            </a:pPr>
            <a:r>
              <a:rPr lang="en-US" sz="1600" dirty="0">
                <a:solidFill>
                  <a:srgbClr val="000000"/>
                </a:solidFill>
              </a:rPr>
              <a:t>The team will include a CEO/Founder, CTO, Product Manager, Development Team, Design Team, Marketing Team, Operations Team, Customer Support Team, Data Scientist, and Business Development Team</a:t>
            </a:r>
            <a:endParaRPr lang="en-US" sz="1600" dirty="0"/>
          </a:p>
          <a:p>
            <a:pPr marL="228600" indent="-228600">
              <a:buSzPct val="100000"/>
              <a:buChar char="•"/>
            </a:pPr>
            <a:r>
              <a:rPr lang="en-US" sz="1600" dirty="0">
                <a:solidFill>
                  <a:srgbClr val="000000"/>
                </a:solidFill>
              </a:rPr>
              <a:t>The team will be organized into departments, including Product and Development, Marketing and Growth, Operations and Logistics, Customer Support, and Business Development</a:t>
            </a:r>
            <a:endParaRPr lang="en-US" sz="1600" dirty="0"/>
          </a:p>
          <a:p>
            <a:pPr marL="228600" indent="-228600">
              <a:buSzPct val="100000"/>
              <a:buChar char="•"/>
            </a:pPr>
            <a:r>
              <a:rPr lang="en-US" sz="1600" dirty="0">
                <a:solidFill>
                  <a:srgbClr val="000000"/>
                </a:solidFill>
              </a:rPr>
              <a:t>The team will work together to develop and launch the platform, and to acquire customers and increase sales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74320"/>
            <a:ext cx="9144000" cy="457200"/>
          </a:xfrm>
          <a:prstGeom prst="rect">
            <a:avLst/>
          </a:prstGeom>
          <a:noFill/>
          <a:ln/>
        </p:spPr>
        <p:txBody>
          <a:bodyPr wrap="square" rtlCol="0" anchor="ctr"/>
          <a:lstStyle/>
          <a:p>
            <a:pPr indent="0" marL="0">
              <a:buNone/>
            </a:pPr>
            <a:r>
              <a:rPr lang="en-US" sz="2400" b="1" dirty="0">
                <a:solidFill>
                  <a:srgbClr val="1E293B"/>
                </a:solidFill>
              </a:rPr>
              <a:t>Funding Ask</a:t>
            </a:r>
            <a:endParaRPr lang="en-US" sz="2400" dirty="0"/>
          </a:p>
        </p:txBody>
      </p:sp>
      <p:sp>
        <p:nvSpPr>
          <p:cNvPr id="3" name="Text 1"/>
          <p:cNvSpPr/>
          <p:nvPr/>
        </p:nvSpPr>
        <p:spPr>
          <a:xfrm>
            <a:off x="548640" y="914400"/>
            <a:ext cx="10058400" cy="457200"/>
          </a:xfrm>
          <a:prstGeom prst="rect">
            <a:avLst/>
          </a:prstGeom>
          <a:noFill/>
          <a:ln/>
        </p:spPr>
        <p:txBody>
          <a:bodyPr wrap="square" rtlCol="0" anchor="ctr"/>
          <a:lstStyle/>
          <a:p>
            <a:pPr indent="0" marL="0">
              <a:buNone/>
            </a:pPr>
            <a:r>
              <a:rPr lang="en-US" sz="1800" b="1" dirty="0">
                <a:solidFill>
                  <a:srgbClr val="2563EB"/>
                </a:solidFill>
              </a:rPr>
              <a:t>Funding Ask</a:t>
            </a:r>
            <a:endParaRPr lang="en-US" sz="1800" dirty="0"/>
          </a:p>
        </p:txBody>
      </p:sp>
      <p:sp>
        <p:nvSpPr>
          <p:cNvPr id="4" name="Text 2"/>
          <p:cNvSpPr/>
          <p:nvPr/>
        </p:nvSpPr>
        <p:spPr>
          <a:xfrm>
            <a:off x="731520" y="1554480"/>
            <a:ext cx="10058400" cy="3657600"/>
          </a:xfrm>
          <a:prstGeom prst="rect">
            <a:avLst/>
          </a:prstGeom>
          <a:noFill/>
          <a:ln/>
        </p:spPr>
        <p:txBody>
          <a:bodyPr wrap="square" rtlCol="0" anchor="ctr"/>
          <a:lstStyle/>
          <a:p>
            <a:pPr marL="228600" indent="-228600">
              <a:buSzPct val="100000"/>
              <a:buChar char="•"/>
            </a:pPr>
            <a:r>
              <a:rPr lang="en-US" sz="1600" dirty="0">
                <a:solidFill>
                  <a:srgbClr val="000000"/>
                </a:solidFill>
              </a:rPr>
              <a:t>We are seeking funding to support the development and launch of the AI grocery delivery platform</a:t>
            </a:r>
            <a:endParaRPr lang="en-US" sz="1600" dirty="0"/>
          </a:p>
          <a:p>
            <a:pPr marL="228600" indent="-228600">
              <a:buSzPct val="100000"/>
              <a:buChar char="•"/>
            </a:pPr>
            <a:r>
              <a:rPr lang="en-US" sz="1600" dirty="0">
                <a:solidFill>
                  <a:srgbClr val="000000"/>
                </a:solidFill>
              </a:rPr>
              <a:t>The funding will be used to hire a team of developers, designers, and marketers, and to establish partnerships with local retailers and farmers</a:t>
            </a:r>
            <a:endParaRPr lang="en-US" sz="1600" dirty="0"/>
          </a:p>
          <a:p>
            <a:pPr marL="228600" indent="-228600">
              <a:buSzPct val="100000"/>
              <a:buChar char="•"/>
            </a:pPr>
            <a:r>
              <a:rPr lang="en-US" sz="1600" dirty="0">
                <a:solidFill>
                  <a:srgbClr val="000000"/>
                </a:solidFill>
              </a:rPr>
              <a:t>The funding will also be used to support the platform's operational costs, including logistics and delivery, and to acquire customers and increase sales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CoFounder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dc:title>
  <dc:subject>Investor Pitch Deck</dc:subject>
  <dc:creator>CoFounder AI</dc:creator>
  <cp:lastModifiedBy>CoFounder AI</cp:lastModifiedBy>
  <cp:revision>1</cp:revision>
  <dcterms:created xsi:type="dcterms:W3CDTF">2026-06-19T06:12:08Z</dcterms:created>
  <dcterms:modified xsi:type="dcterms:W3CDTF">2026-06-19T06:12:08Z</dcterms:modified>
</cp:coreProperties>
</file>